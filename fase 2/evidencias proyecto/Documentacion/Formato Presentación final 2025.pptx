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E1NmWvbizNDJVWNuaDZepmmij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D714F9-5AF8-4231-BAC6-83BC86ACFDF4}">
  <a:tblStyle styleId="{BDD714F9-5AF8-4231-BAC6-83BC86ACFD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0f323ded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90f323ded3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f323ded3_2_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g390f323ded3_2_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g390f323ded3_2_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90f323ded3_2_12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g390f323ded3_2_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0f323ded3_2_1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g390f323ded3_2_1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g390f323ded3_2_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90f323ded3_2_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390f323ded3_2_19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g390f323ded3_2_19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g390f323ded3_2_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90f323ded3_2_2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g390f323ded3_2_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90f323ded3_2_2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g390f323ded3_2_2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g390f323ded3_2_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90f323ded3_2_31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g390f323ded3_2_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90f323ded3_2_34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90f323ded3_2_34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g390f323ded3_2_34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g390f323ded3_2_34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g390f323ded3_2_3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90f323ded3_2_4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g390f323ded3_2_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90f323ded3_2_43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g390f323ded3_2_4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g390f323ded3_2_4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90f323ded3_2_4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0f323ded3_2_4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" name="Google Shape;52;g390f323ded3_2_4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g390f323ded3_2_4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90f323ded3_2_4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90f323ded3_2_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f323ded3_2_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90f323ded3_2_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  <a:defRPr sz="2400">
                <a:solidFill>
                  <a:schemeClr val="lt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g390f323ded3_2_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2"/>
                </a:solidFill>
              </a:defRPr>
            </a:lvl1pPr>
            <a:lvl2pPr lvl="1" algn="r">
              <a:buNone/>
              <a:defRPr sz="1300">
                <a:solidFill>
                  <a:schemeClr val="lt2"/>
                </a:solidFill>
              </a:defRPr>
            </a:lvl2pPr>
            <a:lvl3pPr lvl="2" algn="r">
              <a:buNone/>
              <a:defRPr sz="1300">
                <a:solidFill>
                  <a:schemeClr val="lt2"/>
                </a:solidFill>
              </a:defRPr>
            </a:lvl3pPr>
            <a:lvl4pPr lvl="3" algn="r">
              <a:buNone/>
              <a:defRPr sz="1300">
                <a:solidFill>
                  <a:schemeClr val="lt2"/>
                </a:solidFill>
              </a:defRPr>
            </a:lvl4pPr>
            <a:lvl5pPr lvl="4" algn="r">
              <a:buNone/>
              <a:defRPr sz="1300">
                <a:solidFill>
                  <a:schemeClr val="lt2"/>
                </a:solidFill>
              </a:defRPr>
            </a:lvl5pPr>
            <a:lvl6pPr lvl="5" algn="r">
              <a:buNone/>
              <a:defRPr sz="1300">
                <a:solidFill>
                  <a:schemeClr val="lt2"/>
                </a:solidFill>
              </a:defRPr>
            </a:lvl6pPr>
            <a:lvl7pPr lvl="6" algn="r">
              <a:buNone/>
              <a:defRPr sz="1300">
                <a:solidFill>
                  <a:schemeClr val="lt2"/>
                </a:solidFill>
              </a:defRPr>
            </a:lvl7pPr>
            <a:lvl8pPr lvl="7" algn="r">
              <a:buNone/>
              <a:defRPr sz="1300">
                <a:solidFill>
                  <a:schemeClr val="lt2"/>
                </a:solidFill>
              </a:defRPr>
            </a:lvl8pPr>
            <a:lvl9pPr lvl="8" algn="r">
              <a:buNone/>
              <a:defRPr sz="13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7.jp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10.jpg"/><Relationship Id="rId5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2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2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Relationship Id="rId4" Type="http://schemas.openxmlformats.org/officeDocument/2006/relationships/image" Target="../media/image11.png"/><Relationship Id="rId5" Type="http://schemas.openxmlformats.org/officeDocument/2006/relationships/image" Target="../media/image24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60" name="Google Shape;6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SIMULACIÓN INCENDIOS LABORALES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53434">
            <a:off x="9358750" y="3781092"/>
            <a:ext cx="2706308" cy="2706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67" name="Google Shape;6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2"/>
          <p:cNvGrpSpPr/>
          <p:nvPr/>
        </p:nvGrpSpPr>
        <p:grpSpPr>
          <a:xfrm>
            <a:off x="4204151" y="2231257"/>
            <a:ext cx="7633553" cy="2855050"/>
            <a:chOff x="0" y="0"/>
            <a:chExt cx="7633553" cy="2855050"/>
          </a:xfrm>
        </p:grpSpPr>
        <p:sp>
          <p:nvSpPr>
            <p:cNvPr id="69" name="Google Shape;69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 txBox="1"/>
            <p:nvPr/>
          </p:nvSpPr>
          <p:spPr>
            <a:xfrm>
              <a:off x="1662653" y="0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Christoph Bornhardt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Simulación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35954" y="135954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Joan Jara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de Datos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Desarrolladora Web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SIMULACIÓN INCENDIOS LABORALES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76" name="Google Shape;76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78" name="Google Shape;7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3900" y="2395725"/>
            <a:ext cx="1019725" cy="1019725"/>
          </a:xfrm>
          <a:prstGeom prst="rect">
            <a:avLst/>
          </a:prstGeom>
          <a:solidFill>
            <a:srgbClr val="C3D4EB"/>
          </a:solidFill>
          <a:ln>
            <a:noFill/>
          </a:ln>
        </p:spPr>
      </p:pic>
      <p:pic>
        <p:nvPicPr>
          <p:cNvPr id="79" name="Google Shape;79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3900" y="3896875"/>
            <a:ext cx="1019725" cy="10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3"/>
          <p:cNvPicPr preferRelativeResize="0"/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>
            <a:off x="13" y="0"/>
            <a:ext cx="1219197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85" name="Google Shape;8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 txBox="1"/>
          <p:nvPr/>
        </p:nvSpPr>
        <p:spPr>
          <a:xfrm>
            <a:off x="136199" y="368925"/>
            <a:ext cx="500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SIMULACIÓN INCENDIOS LABORALES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87" name="Google Shape;87;p3"/>
          <p:cNvSpPr txBox="1"/>
          <p:nvPr/>
        </p:nvSpPr>
        <p:spPr>
          <a:xfrm>
            <a:off x="3129300" y="1140650"/>
            <a:ext cx="593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" name="Google Shape;89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1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organizaciones con alto riesgo de incendio como hospitales, fábricas y complejos industriales enfrentan una disyuntiva financiera y operacional: Realizar capacitaciones prácticas de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 costos prohibitivos o asumir el riesgo de no capacitar adecuadamente a su personal.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1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Generar una simulación que exponga a los empleados a situaciones críticas.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estas simulaciones, extraer los datos necesarios para optimizar la preselección de monitores de piso y disminuir el riesgo de fallos durante las capacitaciones.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4200" y="4991100"/>
            <a:ext cx="1534374" cy="1534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28475" y="4730700"/>
            <a:ext cx="1448550" cy="1448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8" name="Google Shape;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SIMULACIÓN INCENDIOS LABORALES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0" name="Google Shape;100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tecnológica de simulación y analítica avanzada para la capacitación en respuesta a incendios, estableciendo un modelo cuantificable de mejora continua en seguridad laboral y optimización de recursos formativos</a:t>
            </a:r>
            <a:r>
              <a:rPr i="1" lang="es-CL" sz="9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la tasa de lesionados en eventos de incendios durante un ciclo de monitorización de  24 meses post-implementación.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la asignación de recursos en programas de capacitación práctica mediante un modelo analítico predictivo para la identificaciones de perfiles de empleados con aptitudes óptimas.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SIMULACIÓN INCENDIOS LABORALES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12" name="Google Shape;112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13" name="Google Shape;113;p5"/>
          <p:cNvGraphicFramePr/>
          <p:nvPr/>
        </p:nvGraphicFramePr>
        <p:xfrm>
          <a:off x="405000" y="215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{BDD714F9-5AF8-4231-BAC6-83BC86ACFDF4}</a:tableStyleId>
              </a:tblPr>
              <a:tblGrid>
                <a:gridCol w="5674600"/>
                <a:gridCol w="5674600"/>
              </a:tblGrid>
              <a:tr h="107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Proyecto de versión Demo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Este proyecto funciona como prueba 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r">
                        <a:lnSpc>
                          <a:spcPct val="107916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concepto para un solo piso.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107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Aplicación de simulación para Mobile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Sólo Android.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457200" marR="0" rtl="0" algn="r">
                        <a:lnSpc>
                          <a:spcPct val="107916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Sólo 2 escenarios.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457200" marR="0" rtl="0" algn="r">
                        <a:lnSpc>
                          <a:spcPct val="107916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Monojugador.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81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Aplicación Web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Mantenedor de Usuarios.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457200" marR="0" rtl="0" algn="r">
                        <a:lnSpc>
                          <a:spcPct val="107916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Reportería básica.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107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Bases de Datos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 modelos solo consideran las entidades que se ocupan en esta iteración.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SIMULACIÓN INCENDIOS LABORALES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20" name="Google Shape;120;p6"/>
          <p:cNvSpPr txBox="1"/>
          <p:nvPr/>
        </p:nvSpPr>
        <p:spPr>
          <a:xfrm>
            <a:off x="1052375" y="992900"/>
            <a:ext cx="1035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6"/>
          <p:cNvSpPr txBox="1"/>
          <p:nvPr/>
        </p:nvSpPr>
        <p:spPr>
          <a:xfrm>
            <a:off x="295625" y="1739375"/>
            <a:ext cx="438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Cascada Adaptada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250823" y="2708307"/>
            <a:ext cx="2220900" cy="7854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FFFFFF"/>
                </a:solidFill>
              </a:rPr>
              <a:t>Levantamiento de Requerimientos</a:t>
            </a:r>
            <a:endParaRPr b="1" sz="1800">
              <a:solidFill>
                <a:srgbClr val="FFFFFF"/>
              </a:solidFill>
              <a:highlight>
                <a:srgbClr val="FF0000"/>
              </a:highlight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577398" y="2710034"/>
            <a:ext cx="2272200" cy="785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FFFFFF"/>
                </a:solidFill>
              </a:rPr>
              <a:t>Diseño</a:t>
            </a:r>
            <a:endParaRPr b="1" sz="1800">
              <a:solidFill>
                <a:srgbClr val="FFFFFF"/>
              </a:solidFill>
              <a:highlight>
                <a:srgbClr val="FF0000"/>
              </a:highlight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8437848" y="2710025"/>
            <a:ext cx="2220900" cy="7854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FFFFFF"/>
                </a:solidFill>
              </a:rPr>
              <a:t>Desarrollo</a:t>
            </a:r>
            <a:endParaRPr b="1" sz="1800">
              <a:solidFill>
                <a:srgbClr val="FFFFFF"/>
              </a:solidFill>
              <a:highlight>
                <a:srgbClr val="FF0000"/>
              </a:highlight>
            </a:endParaRPr>
          </a:p>
        </p:txBody>
      </p:sp>
      <p:cxnSp>
        <p:nvCxnSpPr>
          <p:cNvPr id="126" name="Google Shape;126;p6"/>
          <p:cNvCxnSpPr>
            <a:stCxn id="123" idx="3"/>
            <a:endCxn id="124" idx="1"/>
          </p:cNvCxnSpPr>
          <p:nvPr/>
        </p:nvCxnSpPr>
        <p:spPr>
          <a:xfrm>
            <a:off x="3471723" y="3101007"/>
            <a:ext cx="1105800" cy="1800"/>
          </a:xfrm>
          <a:prstGeom prst="bentConnector3">
            <a:avLst>
              <a:gd fmla="val 49994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6"/>
          <p:cNvCxnSpPr>
            <a:stCxn id="124" idx="3"/>
            <a:endCxn id="125" idx="1"/>
          </p:cNvCxnSpPr>
          <p:nvPr/>
        </p:nvCxnSpPr>
        <p:spPr>
          <a:xfrm>
            <a:off x="6849598" y="3102734"/>
            <a:ext cx="1588200" cy="600"/>
          </a:xfrm>
          <a:prstGeom prst="bentConnector3">
            <a:avLst>
              <a:gd fmla="val 50002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6"/>
          <p:cNvSpPr txBox="1"/>
          <p:nvPr/>
        </p:nvSpPr>
        <p:spPr>
          <a:xfrm>
            <a:off x="1052375" y="3428975"/>
            <a:ext cx="26178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Establecimiento de directrices y objetivos.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Investigación de necesidades y validación del problema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de requerimientos funcionales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4404600" y="3564000"/>
            <a:ext cx="2617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solución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Modelado de Datos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Modelado de Clases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de interfaz de aplicaciones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8239400" y="3632300"/>
            <a:ext cx="2617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 de componentes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internas de funcionamiento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1081025" y="2220725"/>
            <a:ext cx="256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del QUÉ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4312825" y="2220725"/>
            <a:ext cx="303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del CÓMO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7785475" y="2220725"/>
            <a:ext cx="373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Construcción de la solución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SIMULACIÓN INCENDIOS LABORALES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1" y="115565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Temporal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2" name="Google Shape;142;p7"/>
          <p:cNvPicPr preferRelativeResize="0"/>
          <p:nvPr/>
        </p:nvPicPr>
        <p:blipFill rotWithShape="1">
          <a:blip r:embed="rId4">
            <a:alphaModFix/>
          </a:blip>
          <a:srcRect b="1497" l="368" r="0" t="1903"/>
          <a:stretch/>
        </p:blipFill>
        <p:spPr>
          <a:xfrm>
            <a:off x="195350" y="2015250"/>
            <a:ext cx="11718201" cy="307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SIMULACIÓN INCENDIOS LABORALES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</p:txBody>
      </p:sp>
      <p:cxnSp>
        <p:nvCxnSpPr>
          <p:cNvPr id="150" name="Google Shape;150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1" name="Google Shape;151;p8" title="diagrama_arquitectura_mobil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475" y="2364672"/>
            <a:ext cx="4818050" cy="287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8" title="diagrama_arquitectura_web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8900" y="2364680"/>
            <a:ext cx="440055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 txBox="1"/>
          <p:nvPr/>
        </p:nvSpPr>
        <p:spPr>
          <a:xfrm>
            <a:off x="1501175" y="6054200"/>
            <a:ext cx="27657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lt2"/>
                </a:solidFill>
              </a:rPr>
              <a:t>Aplicación Mobile</a:t>
            </a:r>
            <a:endParaRPr sz="2400">
              <a:solidFill>
                <a:schemeClr val="lt2"/>
              </a:solidFill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7256325" y="6054200"/>
            <a:ext cx="27657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lt2"/>
                </a:solidFill>
              </a:rPr>
              <a:t>Aplicación Web</a:t>
            </a:r>
            <a:endParaRPr sz="2400">
              <a:solidFill>
                <a:schemeClr val="lt2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9" name="Google Shape;1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SIMULACIÓN INCENDIOS LABORALES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61" name="Google Shape;161;p9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la solución</a:t>
            </a:r>
            <a:endParaRPr/>
          </a:p>
        </p:txBody>
      </p:sp>
      <p:cxnSp>
        <p:nvCxnSpPr>
          <p:cNvPr id="162" name="Google Shape;162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3" name="Google Shape;163;p9" title="diagrama_solucion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8750" y="2200705"/>
            <a:ext cx="87058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8" name="Google Shape;1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SIMULACIÓN INCENDIOS LABORALES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cxnSp>
        <p:nvCxnSpPr>
          <p:cNvPr id="170" name="Google Shape;170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1" name="Google Shape;171;p10" title="modelo_datos_transaccional_v2.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3675" y="758025"/>
            <a:ext cx="7197026" cy="603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6" name="Google Shape;176;g390f323ded3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90f323ded3_0_1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“SIMULACIÓN INCENDIOS LABORALES”</a:t>
            </a:r>
            <a:endParaRPr/>
          </a:p>
        </p:txBody>
      </p:sp>
      <p:cxnSp>
        <p:nvCxnSpPr>
          <p:cNvPr id="178" name="Google Shape;178;g390f323ded3_0_12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9" name="Google Shape;179;g390f323ded3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650" y="1330377"/>
            <a:ext cx="11534775" cy="49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4" name="Google Shape;1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SIMULACIÓN INCENDIOS LABORALES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337550" y="992900"/>
            <a:ext cx="675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Analíticos a Incorporar</a:t>
            </a:r>
            <a:endParaRPr/>
          </a:p>
        </p:txBody>
      </p:sp>
      <p:cxnSp>
        <p:nvCxnSpPr>
          <p:cNvPr id="187" name="Google Shape;187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8" name="Google Shape;188;p11"/>
          <p:cNvSpPr txBox="1"/>
          <p:nvPr/>
        </p:nvSpPr>
        <p:spPr>
          <a:xfrm>
            <a:off x="265050" y="1798925"/>
            <a:ext cx="7845000" cy="4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lang="es-CL" sz="2400">
                <a:solidFill>
                  <a:schemeClr val="lt2"/>
                </a:solidFill>
              </a:rPr>
              <a:t>Cantidad de Desasosiego Mensual por Género</a:t>
            </a:r>
            <a:endParaRPr sz="2400">
              <a:solidFill>
                <a:schemeClr val="l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s-CL">
                <a:solidFill>
                  <a:schemeClr val="lt2"/>
                </a:solidFill>
              </a:rPr>
              <a:t>La investigación previa revela que mujeres tienden a mantener menos la calma que hombres en eventos de peligro.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lang="es-CL" sz="2400">
                <a:solidFill>
                  <a:schemeClr val="lt2"/>
                </a:solidFill>
              </a:rPr>
              <a:t>Cantidad de Heridas Mensual por Cantidad de Desasosiego</a:t>
            </a:r>
            <a:endParaRPr sz="2400">
              <a:solidFill>
                <a:schemeClr val="l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s-CL">
                <a:solidFill>
                  <a:schemeClr val="lt2"/>
                </a:solidFill>
              </a:rPr>
              <a:t>Se desea demostrar que la métrica de Desasosiego (Falta de Calma) conlleva a un mayor nivel de heridas en eventos de peligro.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lang="es-CL" sz="2400">
                <a:solidFill>
                  <a:schemeClr val="lt2"/>
                </a:solidFill>
              </a:rPr>
              <a:t>Resultados de Partida por Rango Horario del Día</a:t>
            </a:r>
            <a:endParaRPr sz="2400">
              <a:solidFill>
                <a:schemeClr val="l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s-CL">
                <a:solidFill>
                  <a:schemeClr val="lt2"/>
                </a:solidFill>
              </a:rPr>
              <a:t>Se desea descubrir en qué horarios se desempeñan mejor los empleados durante el día, con el objetivo de justificar - o no - la implementación de turnos para las responsabilidades de monitor de piso.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8704400" y="1222125"/>
            <a:ext cx="3276900" cy="4295400"/>
          </a:xfrm>
          <a:prstGeom prst="roundRect">
            <a:avLst>
              <a:gd fmla="val 16667" name="adj"/>
            </a:avLst>
          </a:prstGeom>
          <a:noFill/>
          <a:ln cap="flat" cmpd="sng" w="1143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chemeClr val="lt2"/>
                </a:solidFill>
              </a:rPr>
              <a:t>Desasosiego</a:t>
            </a:r>
            <a:r>
              <a:rPr lang="es-CL" sz="2400">
                <a:solidFill>
                  <a:schemeClr val="lt2"/>
                </a:solidFill>
              </a:rPr>
              <a:t> es una métrica que mide la simulación que se refiere a la “falta de calma” del jugador durante el desarrollo de la partida.</a:t>
            </a:r>
            <a:endParaRPr/>
          </a:p>
        </p:txBody>
      </p:sp>
      <p:pic>
        <p:nvPicPr>
          <p:cNvPr id="190" name="Google Shape;190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02300" y="4401877"/>
            <a:ext cx="1479000" cy="147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1750" y="782838"/>
            <a:ext cx="971500" cy="9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6" name="Google Shape;19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SIMULACIÓN INCENDIOS LABORALES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98" name="Google Shape;198;p12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1"/>
          </a:p>
        </p:txBody>
      </p:sp>
      <p:cxnSp>
        <p:nvCxnSpPr>
          <p:cNvPr id="199" name="Google Shape;199;p1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0" name="Google Shape;200;p12"/>
          <p:cNvSpPr txBox="1"/>
          <p:nvPr/>
        </p:nvSpPr>
        <p:spPr>
          <a:xfrm>
            <a:off x="863675" y="2323700"/>
            <a:ext cx="2710800" cy="3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.NET /  C#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Server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3601" y="2190850"/>
            <a:ext cx="2013799" cy="201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07400" y="2190862"/>
            <a:ext cx="2685056" cy="201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92450" y="2190861"/>
            <a:ext cx="2013800" cy="201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89938" y="4204650"/>
            <a:ext cx="3519982" cy="205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9" name="Google Shape;2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3"/>
          <p:cNvSpPr txBox="1"/>
          <p:nvPr/>
        </p:nvSpPr>
        <p:spPr>
          <a:xfrm>
            <a:off x="2131800" y="402600"/>
            <a:ext cx="7928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pic>
        <p:nvPicPr>
          <p:cNvPr id="211" name="Google Shape;21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400698"/>
            <a:ext cx="5931226" cy="511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4751" y="1400700"/>
            <a:ext cx="5955974" cy="3323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50348" y="4321526"/>
            <a:ext cx="3930378" cy="219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8" name="Google Shape;21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4"/>
          <p:cNvSpPr txBox="1"/>
          <p:nvPr/>
        </p:nvSpPr>
        <p:spPr>
          <a:xfrm>
            <a:off x="479675" y="924400"/>
            <a:ext cx="11149500" cy="769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b="1"/>
          </a:p>
        </p:txBody>
      </p:sp>
      <p:sp>
        <p:nvSpPr>
          <p:cNvPr id="220" name="Google Shape;220;p14"/>
          <p:cNvSpPr/>
          <p:nvPr/>
        </p:nvSpPr>
        <p:spPr>
          <a:xfrm>
            <a:off x="2291425" y="2500525"/>
            <a:ext cx="1819800" cy="2673300"/>
          </a:xfrm>
          <a:prstGeom prst="snip1Rect">
            <a:avLst>
              <a:gd fmla="val 16667" name="adj"/>
            </a:avLst>
          </a:prstGeom>
          <a:solidFill>
            <a:srgbClr val="6EA5D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Equipo no se conocía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030475" y="1768475"/>
            <a:ext cx="2179800" cy="2796600"/>
          </a:xfrm>
          <a:prstGeom prst="snip1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Jefe de proyecto tiene malos hábitos desde el mundo profesional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8531725" y="2006350"/>
            <a:ext cx="2035800" cy="3115500"/>
          </a:xfrm>
          <a:prstGeom prst="snip1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Proyecto no estaba hecho para un módulo de análisis tan profundo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6495925" y="3447825"/>
            <a:ext cx="2035800" cy="24369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Equipo era inexperto con el framework utilizado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224" name="Google Shape;22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675" y="4318600"/>
            <a:ext cx="2539400" cy="253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9" name="Google Shape;2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5"/>
          <p:cNvSpPr txBox="1"/>
          <p:nvPr/>
        </p:nvSpPr>
        <p:spPr>
          <a:xfrm>
            <a:off x="1" y="2707792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/>
          <p:nvPr>
            <p:ph type="title"/>
          </p:nvPr>
        </p:nvSpPr>
        <p:spPr>
          <a:xfrm>
            <a:off x="1981191" y="14027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Consultas y/o Comentarios</a:t>
            </a: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4200563" y="2757713"/>
            <a:ext cx="3341700" cy="3341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oto_preguntas.jpg" id="237" name="Google Shape;2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9857" y="3356993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