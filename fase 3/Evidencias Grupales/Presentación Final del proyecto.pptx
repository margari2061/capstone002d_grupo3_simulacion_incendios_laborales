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v1hW/SwaMylSZlonQH1bkLD4j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ACF9A3-C23F-47B4-9F33-2D07FB6BA1B9}">
  <a:tblStyle styleId="{1DACF9A3-C23F-47B4-9F33-2D07FB6BA1B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0f323ded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90f323ded3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f323ded3_2_8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g390f323ded3_2_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g390f323ded3_2_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90f323ded3_2_4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" name="Google Shape;15;g390f323ded3_2_4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6" name="Google Shape;16;g390f323ded3_2_4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g390f323ded3_2_4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g390f323ded3_2_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90f323ded3_2_12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" name="Google Shape;21;g390f323ded3_2_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90f323ded3_2_1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4" name="Google Shape;24;g390f323ded3_2_1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5" name="Google Shape;25;g390f323ded3_2_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90f323ded3_2_1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g390f323ded3_2_19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9" name="Google Shape;29;g390f323ded3_2_19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0" name="Google Shape;30;g390f323ded3_2_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f323ded3_2_2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3" name="Google Shape;33;g390f323ded3_2_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90f323ded3_2_2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6" name="Google Shape;36;g390f323ded3_2_2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7" name="Google Shape;37;g390f323ded3_2_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90f323ded3_2_31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0" name="Google Shape;40;g390f323ded3_2_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90f323ded3_2_34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90f323ded3_2_34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4" name="Google Shape;44;g390f323ded3_2_34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" name="Google Shape;45;g390f323ded3_2_34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g390f323ded3_2_3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0f323ded3_2_4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9" name="Google Shape;49;g390f323ded3_2_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0f323ded3_2_43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2" name="Google Shape;52;g390f323ded3_2_43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3" name="Google Shape;53;g390f323ded3_2_4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0f323ded3_2_4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f323ded3_2_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90f323ded3_2_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90f323ded3_2_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Relationship Id="rId4" Type="http://schemas.openxmlformats.org/officeDocument/2006/relationships/image" Target="../media/image4.jp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4.jpg"/><Relationship Id="rId5" Type="http://schemas.openxmlformats.org/officeDocument/2006/relationships/image" Target="../media/image16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2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24.png"/><Relationship Id="rId5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" title="asset-v1_CMMABEG25013x2025_01typeassetblockmini_ABEG_2025.jpg"/>
          <p:cNvPicPr preferRelativeResize="0"/>
          <p:nvPr/>
        </p:nvPicPr>
        <p:blipFill rotWithShape="1">
          <a:blip r:embed="rId3">
            <a:alphaModFix amt="52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61" name="Google Shape;6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"/>
          <p:cNvSpPr txBox="1"/>
          <p:nvPr/>
        </p:nvSpPr>
        <p:spPr>
          <a:xfrm>
            <a:off x="1" y="2707792"/>
            <a:ext cx="12192000" cy="1123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SIMULACIÓN INCENDIOS LABORALES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1"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la teoría inefectiva a la práctica accesible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53434">
            <a:off x="521575" y="3750542"/>
            <a:ext cx="2706308" cy="2706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938325">
            <a:off x="2106175" y="4191400"/>
            <a:ext cx="2208099" cy="220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69" name="Google Shape;6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2"/>
          <p:cNvGrpSpPr/>
          <p:nvPr/>
        </p:nvGrpSpPr>
        <p:grpSpPr>
          <a:xfrm>
            <a:off x="4204150" y="2231248"/>
            <a:ext cx="7761653" cy="3728588"/>
            <a:chOff x="0" y="0"/>
            <a:chExt cx="7761653" cy="3008382"/>
          </a:xfrm>
        </p:grpSpPr>
        <p:sp>
          <p:nvSpPr>
            <p:cNvPr id="71" name="Google Shape;71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"/>
            <p:cNvSpPr txBox="1"/>
            <p:nvPr/>
          </p:nvSpPr>
          <p:spPr>
            <a:xfrm>
              <a:off x="1738553" y="135953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Christoph Bornhardt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Simulación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35954" y="135954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F8FAFD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"/>
            <p:cNvSpPr txBox="1"/>
            <p:nvPr/>
          </p:nvSpPr>
          <p:spPr>
            <a:xfrm>
              <a:off x="1790753" y="1648782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Joan Jara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de Datos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Desarrolladora Web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“SIMULACIÓN INCENDIOS LABORALES”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238327" y="3058616"/>
            <a:ext cx="360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80" name="Google Shape;80;p2"/>
          <p:cNvPicPr preferRelativeResize="0"/>
          <p:nvPr/>
        </p:nvPicPr>
        <p:blipFill rotWithShape="1">
          <a:blip r:embed="rId4">
            <a:alphaModFix/>
          </a:blip>
          <a:srcRect b="4479" l="4329" r="7503" t="3149"/>
          <a:stretch/>
        </p:blipFill>
        <p:spPr>
          <a:xfrm>
            <a:off x="4422475" y="4274750"/>
            <a:ext cx="1342600" cy="1305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2435" y="2424025"/>
            <a:ext cx="1262675" cy="130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3"/>
          <p:cNvPicPr preferRelativeResize="0"/>
          <p:nvPr/>
        </p:nvPicPr>
        <p:blipFill rotWithShape="1">
          <a:blip r:embed="rId3">
            <a:alphaModFix amt="28000"/>
          </a:blip>
          <a:srcRect b="0" l="0" r="0" t="0"/>
          <a:stretch/>
        </p:blipFill>
        <p:spPr>
          <a:xfrm>
            <a:off x="13" y="0"/>
            <a:ext cx="1219197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87" name="Google Shape;8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 txBox="1"/>
          <p:nvPr/>
        </p:nvSpPr>
        <p:spPr>
          <a:xfrm>
            <a:off x="136199" y="368925"/>
            <a:ext cx="500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“SIMULACIÓN INCENDIOS LABORALES”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3129300" y="1140650"/>
            <a:ext cx="593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" name="Google Shape;91;p3"/>
          <p:cNvSpPr/>
          <p:nvPr/>
        </p:nvSpPr>
        <p:spPr>
          <a:xfrm>
            <a:off x="714909" y="2068494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b="1"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alto costo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la logística requerida para realizar capacitaciones prácticas lleva a que la mayoría de las empresas opte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capacitaciones sólamente teóricas.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 </a:t>
            </a:r>
            <a:r>
              <a:rPr b="1" lang="es-CL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falta</a:t>
            </a:r>
            <a:r>
              <a:rPr b="1"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CL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 experiencia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deja a los trabajadores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la preparación necesaria para actuar de manera efectiva y segura ante un emergencia real.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Generar una simulación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situaciones de emergencia que funcione como un programa de capacitación continuo.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stas simulaciones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entregan los datos necesarios para generar una preselección de empleados con el perfil adecuado para ser capacitados de manera práctica.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5625" y="5212900"/>
            <a:ext cx="1534374" cy="1534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3" title="lightbulb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23300" y="5035450"/>
            <a:ext cx="1534374" cy="153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0" name="Google Shape;1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 txBox="1"/>
          <p:nvPr/>
        </p:nvSpPr>
        <p:spPr>
          <a:xfrm>
            <a:off x="136193" y="368925"/>
            <a:ext cx="510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“SIMULACIÓN INCENDIOS LABORALES”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0" y="138430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" name="Google Shape;104;p4"/>
          <p:cNvSpPr txBox="1"/>
          <p:nvPr/>
        </p:nvSpPr>
        <p:spPr>
          <a:xfrm>
            <a:off x="1" y="3735462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tecnológica de simulación y analítica avanzada para la capacitación en respuesta a incendios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ámbito laboral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14550" y="4420500"/>
            <a:ext cx="10962900" cy="183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9250" lvl="0" marL="4572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-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Mejorar el seguimiento de protocolo en eventos de incendio en un 25% a 12 meses post implementación.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-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el tiempo destinado a capacitaciones dentro de la empresa en un 10% al año.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-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el coste asociado al riesgo de capacitaciones prácticas fallidas en un 40% en 2 años.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1" name="Google Shape;11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“SIMULACIÓN INCENDIOS LABORALES”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2295850" y="992900"/>
            <a:ext cx="7567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cxnSp>
        <p:nvCxnSpPr>
          <p:cNvPr id="114" name="Google Shape;114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15" name="Google Shape;115;p5"/>
          <p:cNvGraphicFramePr/>
          <p:nvPr/>
        </p:nvGraphicFramePr>
        <p:xfrm>
          <a:off x="405000" y="215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{1DACF9A3-C23F-47B4-9F33-2D07FB6BA1B9}</a:tableStyleId>
              </a:tblPr>
              <a:tblGrid>
                <a:gridCol w="5674600"/>
                <a:gridCol w="5674600"/>
              </a:tblGrid>
              <a:tr h="107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Proyecto de versión Demo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Este proyecto funciona como prueba 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r">
                        <a:lnSpc>
                          <a:spcPct val="107916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concepto para un solo piso.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107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Aplicación de simulación para Mobile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Sólo Android.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457200" marR="0" rtl="0" algn="r">
                        <a:lnSpc>
                          <a:spcPct val="107916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Sólo 2 escenarios.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457200" marR="0" rtl="0" algn="r">
                        <a:lnSpc>
                          <a:spcPct val="107916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Monojugador.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81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Aplicación Web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r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Mantenedor de Usuarios.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457200" marR="0" rtl="0" algn="r">
                        <a:lnSpc>
                          <a:spcPct val="107916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L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Reportería básica.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0602" y="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 txBox="1"/>
          <p:nvPr/>
        </p:nvSpPr>
        <p:spPr>
          <a:xfrm>
            <a:off x="136193" y="368925"/>
            <a:ext cx="495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“SIMULACIÓN INCENDIOS LABORALES”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916200" y="1055250"/>
            <a:ext cx="103596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CL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b="1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s-CL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Metodologia Cascada Adaptada</a:t>
            </a:r>
            <a:endParaRPr b="1"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6"/>
          <p:cNvSpPr/>
          <p:nvPr/>
        </p:nvSpPr>
        <p:spPr>
          <a:xfrm>
            <a:off x="767323" y="2593882"/>
            <a:ext cx="2220900" cy="7854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Levantamiento de Requerimientos</a:t>
            </a:r>
            <a:endParaRPr b="1" i="0" sz="1800" u="none" cap="none" strike="noStrike">
              <a:solidFill>
                <a:srgbClr val="FFFFFF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764523" y="3940084"/>
            <a:ext cx="2272200" cy="785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endParaRPr b="1" i="0" sz="1800" u="none" cap="none" strike="noStrike">
              <a:solidFill>
                <a:srgbClr val="FFFFFF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9050598" y="5650150"/>
            <a:ext cx="2220900" cy="7854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 b="1" i="0" sz="1800" u="none" cap="none" strike="noStrike">
              <a:solidFill>
                <a:srgbClr val="FFFFFF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6"/>
          <p:cNvCxnSpPr>
            <a:stCxn id="124" idx="3"/>
            <a:endCxn id="125" idx="1"/>
          </p:cNvCxnSpPr>
          <p:nvPr/>
        </p:nvCxnSpPr>
        <p:spPr>
          <a:xfrm>
            <a:off x="2988223" y="2986582"/>
            <a:ext cx="1776300" cy="13461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" name="Google Shape;128;p6"/>
          <p:cNvCxnSpPr>
            <a:stCxn id="125" idx="3"/>
            <a:endCxn id="126" idx="1"/>
          </p:cNvCxnSpPr>
          <p:nvPr/>
        </p:nvCxnSpPr>
        <p:spPr>
          <a:xfrm>
            <a:off x="7036723" y="4332784"/>
            <a:ext cx="2013900" cy="1710000"/>
          </a:xfrm>
          <a:prstGeom prst="bentConnector3">
            <a:avLst>
              <a:gd fmla="val 49999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“SIMULACIÓN INCENDIOS LABORALES”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1" y="115565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Temporal</a:t>
            </a:r>
            <a:endParaRPr b="1" i="0" sz="10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37" name="Google Shape;13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21550"/>
            <a:ext cx="12192000" cy="325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“SIMULACIÓN INCENDIOS LABORALES”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0" y="1000817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oftware 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6" name="Google Shape;146;p8" title="diagrama_arquitectura_web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4675" y="1647325"/>
            <a:ext cx="6980650" cy="486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1" name="Google Shape;1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“SIMULACIÓN INCENDIOS LABORALES”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0" y="88771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la 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5" name="Google Shape;155;p9" title="diagrama_solucionv2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112" y="1800700"/>
            <a:ext cx="11885776" cy="452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0" name="Google Shape;1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“SIMULACIÓN INCENDIOS LABORALES”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3" name="Google Shape;163;p10" title="modelo_datos_transaccional_v2.3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3675" y="758025"/>
            <a:ext cx="7197026" cy="603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8" name="Google Shape;168;g390f323ded3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90f323ded3_0_1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“SIMULACIÓN INCENDIOS LABORALES”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g390f323ded3_0_12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1" name="Google Shape;171;g390f323ded3_0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4650" y="1330377"/>
            <a:ext cx="11534775" cy="49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6" name="Google Shape;1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1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“SIMULACIÓN INCENDIOS LABORALES”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337550" y="992900"/>
            <a:ext cx="675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Analíticos a Incorporar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cxnSp>
        <p:nvCxnSpPr>
          <p:cNvPr id="179" name="Google Shape;179;p1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11"/>
          <p:cNvSpPr txBox="1"/>
          <p:nvPr/>
        </p:nvSpPr>
        <p:spPr>
          <a:xfrm>
            <a:off x="265050" y="1798925"/>
            <a:ext cx="7845000" cy="4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s-CL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</a:t>
            </a:r>
            <a:r>
              <a:rPr b="1" i="0" lang="es-CL" sz="2400" u="none" cap="none" strike="noStrike">
                <a:solidFill>
                  <a:schemeClr val="dk1"/>
                </a:solidFill>
              </a:rPr>
              <a:t>Desasosiego Mensual</a:t>
            </a:r>
            <a:r>
              <a:rPr b="0" i="0" lang="es-CL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por Género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investigación previa revela que mujeres tienden a mantener menos la calma que hombres en eventos de peligro.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s-CL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</a:t>
            </a:r>
            <a:r>
              <a:rPr b="1" i="0" lang="es-CL" sz="2400" u="none" cap="none" strike="noStrike">
                <a:solidFill>
                  <a:schemeClr val="dk1"/>
                </a:solidFill>
              </a:rPr>
              <a:t>Heridas Mensual</a:t>
            </a:r>
            <a:r>
              <a:rPr b="0" i="0" lang="es-CL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por Cantidad de Desasosiego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desea demostrar que la métrica de Desasosiego (Falta de Calma) conlleva a un mayor nivel de heridas en eventos de peligro.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s-CL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Resultados de </a:t>
            </a:r>
            <a:r>
              <a:rPr b="1" i="0" lang="es-CL" sz="2400" u="none" cap="none" strike="noStrike">
                <a:solidFill>
                  <a:schemeClr val="dk1"/>
                </a:solidFill>
              </a:rPr>
              <a:t>Partida por Rango</a:t>
            </a:r>
            <a:r>
              <a:rPr b="0" i="0" lang="es-CL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Horario del Día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desea descubrir en qué horarios se desempeñan mejor los empleados durante el día, con el objetivo de justificar - o no - la implementación de turnos para las responsabilidades de monitor de piso.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8704400" y="1222125"/>
            <a:ext cx="3276900" cy="4295400"/>
          </a:xfrm>
          <a:prstGeom prst="roundRect">
            <a:avLst>
              <a:gd fmla="val 16667" name="adj"/>
            </a:avLst>
          </a:prstGeom>
          <a:noFill/>
          <a:ln cap="flat" cmpd="sng" w="1143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FF9900"/>
                </a:solidFill>
              </a:rPr>
              <a:t>Desasosiego </a:t>
            </a:r>
            <a:r>
              <a:rPr i="0" lang="es-CL" sz="2400" u="none" cap="none" strike="noStrike">
                <a:solidFill>
                  <a:schemeClr val="dk1"/>
                </a:solidFill>
              </a:rPr>
              <a:t>es una métrica que mide la simulación que se refiere a la “falta de calma” del jugador durante el desarrollo de la partida.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pic>
        <p:nvPicPr>
          <p:cNvPr id="182" name="Google Shape;18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02300" y="4401877"/>
            <a:ext cx="1479000" cy="147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1750" y="782838"/>
            <a:ext cx="971500" cy="9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8" name="Google Shape;18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“SIMULACIÓN INCENDIOS LABORALES”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1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1" name="Google Shape;191;p12"/>
          <p:cNvSpPr txBox="1"/>
          <p:nvPr/>
        </p:nvSpPr>
        <p:spPr>
          <a:xfrm>
            <a:off x="0" y="11587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1"/>
          </a:p>
        </p:txBody>
      </p:sp>
      <p:sp>
        <p:nvSpPr>
          <p:cNvPr id="192" name="Google Shape;192;p12"/>
          <p:cNvSpPr txBox="1"/>
          <p:nvPr/>
        </p:nvSpPr>
        <p:spPr>
          <a:xfrm>
            <a:off x="863675" y="2049800"/>
            <a:ext cx="2710800" cy="3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Char char="-"/>
            </a:pPr>
            <a:r>
              <a:rPr lang="es-CL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.NET</a:t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Char char="-"/>
            </a:pPr>
            <a:r>
              <a:rPr lang="es-CL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Unity</a:t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Char char="-"/>
            </a:pPr>
            <a:r>
              <a:rPr lang="es-CL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Server</a:t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Char char="-"/>
            </a:pPr>
            <a:r>
              <a:rPr lang="es-CL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3601" y="1916950"/>
            <a:ext cx="2013799" cy="201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07400" y="1916962"/>
            <a:ext cx="2685056" cy="201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92450" y="1916961"/>
            <a:ext cx="2013800" cy="201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89938" y="3930750"/>
            <a:ext cx="3519982" cy="205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1" name="Google Shape;20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0602" y="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3"/>
          <p:cNvSpPr txBox="1"/>
          <p:nvPr/>
        </p:nvSpPr>
        <p:spPr>
          <a:xfrm>
            <a:off x="2131800" y="402600"/>
            <a:ext cx="7928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400698"/>
            <a:ext cx="5931226" cy="511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4751" y="1400700"/>
            <a:ext cx="5955974" cy="3323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0348" y="4321526"/>
            <a:ext cx="3930378" cy="219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0" name="Google Shape;2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5"/>
          <p:cNvSpPr txBox="1"/>
          <p:nvPr/>
        </p:nvSpPr>
        <p:spPr>
          <a:xfrm>
            <a:off x="1" y="2707792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/>
          <p:nvPr/>
        </p:nvSpPr>
        <p:spPr>
          <a:xfrm>
            <a:off x="652700" y="1693900"/>
            <a:ext cx="1819800" cy="2673300"/>
          </a:xfrm>
          <a:prstGeom prst="snip1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Fue difícil definir los objetivos específicos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scuelaIT Duoc UC - Escuela de Informática y Telecomunicaciones Duoc UC - Duoc  UC | LinkedIn" id="217" name="Google Shape;2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4"/>
          <p:cNvSpPr txBox="1"/>
          <p:nvPr/>
        </p:nvSpPr>
        <p:spPr>
          <a:xfrm>
            <a:off x="479675" y="924400"/>
            <a:ext cx="11149500" cy="769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2291425" y="2500525"/>
            <a:ext cx="1819800" cy="2673300"/>
          </a:xfrm>
          <a:prstGeom prst="snip1Rect">
            <a:avLst>
              <a:gd fmla="val 16667" name="adj"/>
            </a:avLst>
          </a:prstGeom>
          <a:solidFill>
            <a:srgbClr val="6EA5D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Equipo no se conocía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4030475" y="1768475"/>
            <a:ext cx="2179800" cy="2796600"/>
          </a:xfrm>
          <a:prstGeom prst="snip1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Jefe de proyecto tiene malos hábitos desde el mundo profesional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8531725" y="2006350"/>
            <a:ext cx="2035800" cy="3115500"/>
          </a:xfrm>
          <a:prstGeom prst="snip1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Proyecto no estaba hecho para un módulo de análisis tan profundo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6495925" y="3447825"/>
            <a:ext cx="2035800" cy="2436900"/>
          </a:xfrm>
          <a:prstGeom prst="snip1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Equipo era inexperto con el framework utilizado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675" y="4318600"/>
            <a:ext cx="2539400" cy="253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 txBox="1"/>
          <p:nvPr>
            <p:ph type="title"/>
          </p:nvPr>
        </p:nvSpPr>
        <p:spPr>
          <a:xfrm>
            <a:off x="1981191" y="14027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Consultas y/o Comentarios</a:t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4200563" y="2757713"/>
            <a:ext cx="3341700" cy="33417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to_preguntas.jpg" id="230" name="Google Shape;2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9857" y="3356993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